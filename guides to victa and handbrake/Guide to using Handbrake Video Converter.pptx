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256" r:id="rId3"/>
    <p:sldId id="257" r:id="rId4"/>
    <p:sldId id="258" r:id="rId5"/>
    <p:sldId id="259" r:id="rId6"/>
    <p:sldId id="267" r:id="rId7"/>
    <p:sldId id="269" r:id="rId8"/>
    <p:sldId id="260" r:id="rId9"/>
    <p:sldId id="261" r:id="rId10"/>
    <p:sldId id="262" r:id="rId11"/>
    <p:sldId id="263" r:id="rId12"/>
    <p:sldId id="264" r:id="rId13"/>
    <p:sldId id="268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BF0F6-0B46-4695-B0CA-0F4D3A3B72AF}" v="1" dt="2025-11-14T10:16:30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Jones" userId="2e886032-727b-4960-b9e6-450b8b1430e5" providerId="ADAL" clId="{EB03E89C-AE75-4F62-9446-47DDF138B6B9}"/>
    <pc:docChg chg="modSld">
      <pc:chgData name="Jeff Jones" userId="2e886032-727b-4960-b9e6-450b8b1430e5" providerId="ADAL" clId="{EB03E89C-AE75-4F62-9446-47DDF138B6B9}" dt="2025-11-14T10:16:52.167" v="81" actId="20577"/>
      <pc:docMkLst>
        <pc:docMk/>
      </pc:docMkLst>
      <pc:sldChg chg="modSp mod">
        <pc:chgData name="Jeff Jones" userId="2e886032-727b-4960-b9e6-450b8b1430e5" providerId="ADAL" clId="{EB03E89C-AE75-4F62-9446-47DDF138B6B9}" dt="2025-11-14T10:16:52.167" v="81" actId="20577"/>
        <pc:sldMkLst>
          <pc:docMk/>
          <pc:sldMk cId="333292298" sldId="258"/>
        </pc:sldMkLst>
        <pc:spChg chg="mod">
          <ac:chgData name="Jeff Jones" userId="2e886032-727b-4960-b9e6-450b8b1430e5" providerId="ADAL" clId="{EB03E89C-AE75-4F62-9446-47DDF138B6B9}" dt="2025-11-14T10:16:52.167" v="81" actId="20577"/>
          <ac:spMkLst>
            <pc:docMk/>
            <pc:sldMk cId="333292298" sldId="258"/>
            <ac:spMk id="3" creationId="{AB551F60-5019-41A8-8109-514AE70D60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E051B-5994-4724-AE70-810CEF807B06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19355-E9ED-488F-AF15-39870D242E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28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19355-E9ED-488F-AF15-39870D242E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428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DA40-CCCB-4BA2-9C87-810A054CE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EAD8F-C600-46C3-BC7D-0213FE36B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3ED7C-43CF-4317-8EFA-4B11CBBC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6D051-A476-454C-965C-7B616481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926FD-499E-483B-A199-7539304B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47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A87A-B6A9-4DAF-A1B7-2195A186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2DDF1-FDD5-4E80-9792-2C55156CC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2507-97E4-4115-8FBE-82DE581C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55B8-2488-4196-AF4E-D594BA2E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A1155-E271-4C8D-9D11-BE65E6E0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62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5501-F525-40E9-BFB4-6249740A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68991-25A2-41FB-9CDC-1CF82FFC7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5F8A-A6AD-4FD9-9A57-89E209B5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10BFC-12BB-48C3-AA16-3CA1337B8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B3BF9-4D3D-469E-A083-F96CDE87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19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555-99C1-4066-BB8F-BFF580DA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C9305-F2CA-4F96-A40D-8AA25FC94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883C0-4BB2-4CEA-AB5B-775096435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01839-76E7-4072-AAE4-269F14D7E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56216-C81D-449C-AA2B-68B9B434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DFA41-713D-4E7E-8FDF-B03F34F1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786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07AA-7DB3-4224-99F4-2E24E147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82034-72E0-4595-A097-84E4DBF70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F004A-2BCE-4FA8-8010-651B61929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D4169-8BD3-40FF-A5EE-40EE592E9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28A6A-A711-40E5-8EC7-2FFDD828A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ECD9E-5DA5-4982-BAA3-F25DA58F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E4737-2D74-4CBE-80D0-7BD287D4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F2727-8050-4114-A809-4BF2447A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4EB8-ABB7-4160-BF32-D3551C45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7CD76-4089-4BDD-AE85-06147936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1446B-F3CB-43D0-8B93-5E76DD008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D5372-F132-4F37-873B-E6C74B53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088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8481D-22CD-445A-8514-8A1BF5B9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DBFDC-7022-4CA2-A1A4-518F1184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2DC5C-0C00-4653-9F03-A504C2B9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30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38D8-4505-4376-B554-D2F9905E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AE0B-CA8D-46CD-AF4B-F56A81E3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89716-E1FA-4573-A148-B26B8C509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FBF83-F44B-4360-A918-5B9E0B0D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1D647-98B2-409E-AE62-4CC06B27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33E70-B119-422F-B547-7EA18B19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45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F878-9093-4931-A653-AEAAB22D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768D9-7B88-4D36-8820-4CD4D2E2B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C0FCC-CAF2-4F68-8F19-0D5885F83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1CDD1-7301-4B41-838A-AD3914E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3C53F-DFA5-4289-BAEA-90859708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96B4-AFEE-43ED-9144-7F1FA105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11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ACF-2D56-4C38-8231-220F8BF6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05C3B-03CD-460A-B573-54BFAD5C2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E7A15-DFAA-46E1-BBF3-7D5D7D4A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06D5-9E47-4A57-BDBF-BBC4421F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F3D98-B941-4EB8-B481-30EB57F5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6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349E0-B78F-45FC-A1E3-F01B5E86C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124DD-B655-419B-89C7-45E615937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1ED54-2723-473B-A306-0D611B8D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15F27-72FA-42C2-BBF1-D8B86EF4C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6257C-7D66-4BFA-A55B-33032AB0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18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BF06B-7146-46CA-9C43-0CF11DCA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5DF76-48FC-4218-8B07-2D5E6056F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F276C-0474-4DEB-B014-4F9CA6623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73E4B-9D37-4958-B3E5-4399EB9E53F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5E02-7F7D-45A6-85E7-647A9FB29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E3727-359B-4A67-982F-CE39A8503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1B586-ADD5-4398-A158-FA48FDBABB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09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683E-F521-4CF9-A885-7691D3BE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7E31C-B432-4897-A048-70A7C513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2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C88A-25E8-4E0A-B3F7-7F48604BF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328" y="1122363"/>
            <a:ext cx="10130672" cy="2387600"/>
          </a:xfrm>
        </p:spPr>
        <p:txBody>
          <a:bodyPr/>
          <a:lstStyle/>
          <a:p>
            <a:r>
              <a:rPr lang="en-GB" dirty="0"/>
              <a:t>Guide to Using Handbrake 1.1.2 Video Conversion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71DA1-75A4-467E-B438-40B563801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8793"/>
            <a:ext cx="9144000" cy="1655762"/>
          </a:xfrm>
        </p:spPr>
        <p:txBody>
          <a:bodyPr/>
          <a:lstStyle/>
          <a:p>
            <a:r>
              <a:rPr lang="en-GB" dirty="0"/>
              <a:t>Jeff Jones 20/03/20</a:t>
            </a:r>
          </a:p>
        </p:txBody>
      </p:sp>
    </p:spTree>
    <p:extLst>
      <p:ext uri="{BB962C8B-B14F-4D97-AF65-F5344CB8AC3E}">
        <p14:creationId xmlns:p14="http://schemas.microsoft.com/office/powerpoint/2010/main" val="513008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23A5-2979-4E4D-84AE-B392C5C4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Handbrake Software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54AB4-5A7D-4FD7-BA97-EB9A6E97A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to convert smartphone videos into smaller standardised format.</a:t>
            </a:r>
          </a:p>
          <a:p>
            <a:r>
              <a:rPr lang="en-GB" dirty="0"/>
              <a:t>Supplants use of Avanti which is broken by Windows Updates</a:t>
            </a:r>
          </a:p>
          <a:p>
            <a:r>
              <a:rPr lang="en-GB" dirty="0"/>
              <a:t>Good news:</a:t>
            </a:r>
          </a:p>
          <a:p>
            <a:pPr lvl="1"/>
            <a:r>
              <a:rPr lang="en-GB" dirty="0"/>
              <a:t>Should be easier to use than Avanti</a:t>
            </a:r>
          </a:p>
          <a:p>
            <a:pPr lvl="1"/>
            <a:r>
              <a:rPr lang="en-GB" dirty="0"/>
              <a:t>Doesn’t require separate installation of FFMPEG tools (they are built-in)</a:t>
            </a:r>
          </a:p>
          <a:p>
            <a:pPr lvl="1"/>
            <a:r>
              <a:rPr lang="en-GB" dirty="0"/>
              <a:t>Excellent quality video conversion</a:t>
            </a:r>
          </a:p>
          <a:p>
            <a:pPr lvl="1"/>
            <a:r>
              <a:rPr lang="en-GB" dirty="0"/>
              <a:t>Importable settings for different tasks (cone test, volatile test, IRS box etc.)</a:t>
            </a:r>
          </a:p>
          <a:p>
            <a:pPr lvl="1"/>
            <a:r>
              <a:rPr lang="en-GB" dirty="0"/>
              <a:t>Can process a batch of videos at a time, e.g. all videos in one folder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265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C916-FDDF-4E64-8BD2-F781C7DC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Handbrake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51F60-5019-41A8-8109-514AE70D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953"/>
            <a:ext cx="10515600" cy="4351338"/>
          </a:xfrm>
        </p:spPr>
        <p:txBody>
          <a:bodyPr/>
          <a:lstStyle/>
          <a:p>
            <a:r>
              <a:rPr lang="en-GB" dirty="0"/>
              <a:t>Get handbrake from:</a:t>
            </a:r>
          </a:p>
          <a:p>
            <a:pPr lvl="1"/>
            <a:r>
              <a:rPr lang="en-GB" dirty="0"/>
              <a:t>https://handbrake.fr/</a:t>
            </a:r>
          </a:p>
          <a:p>
            <a:r>
              <a:rPr lang="en-GB" dirty="0"/>
              <a:t>Double click the file:</a:t>
            </a:r>
          </a:p>
          <a:p>
            <a:pPr lvl="1"/>
            <a:r>
              <a:rPr lang="en-GB" dirty="0"/>
              <a:t>HandBrake-1.1.2-x86_64-Win_GUI.exe (the version you have might differ)</a:t>
            </a:r>
          </a:p>
          <a:p>
            <a:pPr lvl="1"/>
            <a:r>
              <a:rPr lang="en-GB" dirty="0"/>
              <a:t>You might be asked to give permission for it to be installed, click yes if this is the case.</a:t>
            </a:r>
          </a:p>
          <a:p>
            <a:r>
              <a:rPr lang="en-GB" dirty="0"/>
              <a:t>Also, on some PCs, windows </a:t>
            </a:r>
            <a:r>
              <a:rPr lang="en-GB" dirty="0" err="1"/>
              <a:t>smartscreen</a:t>
            </a:r>
            <a:r>
              <a:rPr lang="en-GB" dirty="0"/>
              <a:t> might interrupt the installation: </a:t>
            </a:r>
          </a:p>
          <a:p>
            <a:pPr lvl="1"/>
            <a:r>
              <a:rPr lang="en-GB" dirty="0"/>
              <a:t>Click ‘more options’</a:t>
            </a:r>
          </a:p>
          <a:p>
            <a:pPr lvl="1"/>
            <a:r>
              <a:rPr lang="en-GB" dirty="0"/>
              <a:t>Click ‘run anyway’</a:t>
            </a:r>
          </a:p>
          <a:p>
            <a:r>
              <a:rPr lang="en-GB" dirty="0"/>
              <a:t>Handbrake will be installed on the PC</a:t>
            </a:r>
          </a:p>
        </p:txBody>
      </p:sp>
    </p:spTree>
    <p:extLst>
      <p:ext uri="{BB962C8B-B14F-4D97-AF65-F5344CB8AC3E}">
        <p14:creationId xmlns:p14="http://schemas.microsoft.com/office/powerpoint/2010/main" val="33329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77FA-290B-4A79-B14C-BCDD0E72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Handbrake -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6A5F0-BE4B-4239-B558-1E33078D0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4" y="1400746"/>
            <a:ext cx="6124279" cy="5348845"/>
          </a:xfrm>
        </p:spPr>
        <p:txBody>
          <a:bodyPr/>
          <a:lstStyle/>
          <a:p>
            <a:r>
              <a:rPr lang="en-GB" dirty="0"/>
              <a:t>We can add pre-configured </a:t>
            </a:r>
            <a:r>
              <a:rPr lang="en-GB" dirty="0" err="1"/>
              <a:t>preset</a:t>
            </a:r>
            <a:r>
              <a:rPr lang="en-GB" dirty="0"/>
              <a:t> conversion settings to handbrake</a:t>
            </a:r>
          </a:p>
          <a:p>
            <a:r>
              <a:rPr lang="en-GB" dirty="0"/>
              <a:t>We can then set the default handbrake </a:t>
            </a:r>
            <a:r>
              <a:rPr lang="en-GB" dirty="0" err="1"/>
              <a:t>preset</a:t>
            </a:r>
            <a:r>
              <a:rPr lang="en-GB" dirty="0"/>
              <a:t> to our own preferred </a:t>
            </a:r>
            <a:r>
              <a:rPr lang="en-GB" dirty="0" err="1"/>
              <a:t>preset</a:t>
            </a:r>
            <a:endParaRPr lang="en-GB" dirty="0"/>
          </a:p>
          <a:p>
            <a:r>
              <a:rPr lang="en-GB" dirty="0"/>
              <a:t>The starting screen is shown on the right</a:t>
            </a:r>
          </a:p>
          <a:p>
            <a:r>
              <a:rPr lang="en-GB" dirty="0"/>
              <a:t>A source video must be added before configuration can begin</a:t>
            </a:r>
          </a:p>
          <a:p>
            <a:r>
              <a:rPr lang="en-GB" dirty="0"/>
              <a:t>Click </a:t>
            </a:r>
            <a:r>
              <a:rPr lang="en-GB" b="1" dirty="0">
                <a:solidFill>
                  <a:srgbClr val="00B0F0"/>
                </a:solidFill>
              </a:rPr>
              <a:t>file</a:t>
            </a:r>
            <a:r>
              <a:rPr lang="en-GB" dirty="0"/>
              <a:t> and add an example video from: </a:t>
            </a:r>
            <a:r>
              <a:rPr lang="en-GB" dirty="0" err="1"/>
              <a:t>bmgf</a:t>
            </a:r>
            <a:r>
              <a:rPr lang="en-GB" dirty="0"/>
              <a:t>&gt;</a:t>
            </a:r>
            <a:r>
              <a:rPr lang="en-GB" dirty="0" err="1"/>
              <a:t>software_tools</a:t>
            </a:r>
            <a:r>
              <a:rPr lang="en-GB" dirty="0"/>
              <a:t>&gt;handbrake folder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E627A-10BB-4D85-AF21-786AB3B4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142" y="1885359"/>
            <a:ext cx="5941166" cy="396879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0E1E52-C88F-4A8C-A17B-268075EB402A}"/>
              </a:ext>
            </a:extLst>
          </p:cNvPr>
          <p:cNvSpPr/>
          <p:nvPr/>
        </p:nvSpPr>
        <p:spPr>
          <a:xfrm>
            <a:off x="6127423" y="2969443"/>
            <a:ext cx="1366886" cy="450130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88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EB16-A912-4D06-AD44-B2EB0016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Handbrake -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1047-A5EC-4C7E-9238-1A5AB1561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61" y="1608809"/>
            <a:ext cx="5901337" cy="4499761"/>
          </a:xfrm>
        </p:spPr>
        <p:txBody>
          <a:bodyPr/>
          <a:lstStyle/>
          <a:p>
            <a:r>
              <a:rPr lang="en-GB" dirty="0"/>
              <a:t>We need to create a default folder to save the converted files in.</a:t>
            </a:r>
          </a:p>
          <a:p>
            <a:r>
              <a:rPr lang="en-GB" dirty="0"/>
              <a:t>First, create a blank folder on the windows desktop called ‘converted videos’.</a:t>
            </a:r>
          </a:p>
          <a:p>
            <a:r>
              <a:rPr lang="en-GB" dirty="0"/>
              <a:t>Click the tools menu and click on ‘</a:t>
            </a:r>
            <a:r>
              <a:rPr lang="en-GB" b="1" dirty="0">
                <a:solidFill>
                  <a:srgbClr val="00B050"/>
                </a:solidFill>
              </a:rPr>
              <a:t>preferences</a:t>
            </a:r>
            <a:r>
              <a:rPr lang="en-GB" dirty="0"/>
              <a:t>’.</a:t>
            </a:r>
          </a:p>
          <a:p>
            <a:r>
              <a:rPr lang="en-GB" dirty="0"/>
              <a:t>On the preferences window click ‘</a:t>
            </a:r>
            <a:r>
              <a:rPr lang="en-GB" b="1" dirty="0">
                <a:solidFill>
                  <a:srgbClr val="FF0000"/>
                </a:solidFill>
              </a:rPr>
              <a:t>output files</a:t>
            </a:r>
            <a:r>
              <a:rPr lang="en-GB" dirty="0"/>
              <a:t>’ and then click ‘</a:t>
            </a:r>
            <a:r>
              <a:rPr lang="en-GB" b="1" dirty="0">
                <a:solidFill>
                  <a:srgbClr val="0070C0"/>
                </a:solidFill>
              </a:rPr>
              <a:t>browse</a:t>
            </a:r>
            <a:r>
              <a:rPr lang="en-GB" dirty="0"/>
              <a:t>’ and select the folder just created.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9A763-9097-4E3B-A2C0-94A5D6C4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13349"/>
            <a:ext cx="5901338" cy="218880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9DA76F-A416-42E8-932A-45870F5412BC}"/>
              </a:ext>
            </a:extLst>
          </p:cNvPr>
          <p:cNvSpPr/>
          <p:nvPr/>
        </p:nvSpPr>
        <p:spPr>
          <a:xfrm>
            <a:off x="6270403" y="2375555"/>
            <a:ext cx="2373976" cy="414778"/>
          </a:xfrm>
          <a:prstGeom prst="round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DFE16A-4149-4699-A203-8DE1A8AD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8061"/>
            <a:ext cx="5919849" cy="295012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913226-3833-4C11-AD71-1053558E30AE}"/>
              </a:ext>
            </a:extLst>
          </p:cNvPr>
          <p:cNvSpPr/>
          <p:nvPr/>
        </p:nvSpPr>
        <p:spPr>
          <a:xfrm>
            <a:off x="10953946" y="4941218"/>
            <a:ext cx="633164" cy="414778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F1212A-E4B2-4BDC-9FC6-9432390B90D5}"/>
              </a:ext>
            </a:extLst>
          </p:cNvPr>
          <p:cNvSpPr/>
          <p:nvPr/>
        </p:nvSpPr>
        <p:spPr>
          <a:xfrm>
            <a:off x="6091291" y="4424315"/>
            <a:ext cx="1280469" cy="414778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40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7553-2966-42D2-BF66-B6B12999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Handbrake -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1981B-4CA7-48DE-BF25-07C596C6B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1563478"/>
            <a:ext cx="3903325" cy="4613485"/>
          </a:xfrm>
        </p:spPr>
        <p:txBody>
          <a:bodyPr/>
          <a:lstStyle/>
          <a:p>
            <a:r>
              <a:rPr lang="en-GB" dirty="0"/>
              <a:t>Make sure that the ‘</a:t>
            </a:r>
            <a:r>
              <a:rPr lang="en-GB" b="1" dirty="0">
                <a:solidFill>
                  <a:srgbClr val="FF0000"/>
                </a:solidFill>
              </a:rPr>
              <a:t>Check for updates</a:t>
            </a:r>
            <a:r>
              <a:rPr lang="en-GB" dirty="0"/>
              <a:t>’ box is </a:t>
            </a:r>
            <a:r>
              <a:rPr lang="en-GB" sz="3200" b="1" i="1" dirty="0"/>
              <a:t>not</a:t>
            </a:r>
            <a:r>
              <a:rPr lang="en-GB" dirty="0"/>
              <a:t> ticked!</a:t>
            </a:r>
          </a:p>
          <a:p>
            <a:r>
              <a:rPr lang="en-GB" dirty="0"/>
              <a:t>Updates to Handbrake will not work on LSTM Laptops as we use an older version of windows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C2A74-3C47-4EB6-A1A7-DED5F9DB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858" y="1563478"/>
            <a:ext cx="7804222" cy="26563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944720-60C7-4FFB-87FA-B59A1C8C62EC}"/>
              </a:ext>
            </a:extLst>
          </p:cNvPr>
          <p:cNvSpPr/>
          <p:nvPr/>
        </p:nvSpPr>
        <p:spPr>
          <a:xfrm>
            <a:off x="6015877" y="3353587"/>
            <a:ext cx="2534234" cy="414778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01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B9EF-C7FB-4D2E-9FD5-FCC0CAE2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Handbrake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395CA4-DDD9-4B26-9381-B62F914AF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5251" y="402176"/>
            <a:ext cx="5315647" cy="631271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F1C708-FC35-4299-9282-AB780131A648}"/>
              </a:ext>
            </a:extLst>
          </p:cNvPr>
          <p:cNvSpPr/>
          <p:nvPr/>
        </p:nvSpPr>
        <p:spPr>
          <a:xfrm>
            <a:off x="9530504" y="5750350"/>
            <a:ext cx="1432874" cy="658340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C67869-9A24-4B9A-9907-18671C714023}"/>
              </a:ext>
            </a:extLst>
          </p:cNvPr>
          <p:cNvSpPr/>
          <p:nvPr/>
        </p:nvSpPr>
        <p:spPr>
          <a:xfrm>
            <a:off x="9682904" y="4996204"/>
            <a:ext cx="2402262" cy="546785"/>
          </a:xfrm>
          <a:prstGeom prst="round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30F7EC-3400-42C9-A20D-4323FCE9B944}"/>
              </a:ext>
            </a:extLst>
          </p:cNvPr>
          <p:cNvSpPr txBox="1">
            <a:spLocks/>
          </p:cNvSpPr>
          <p:nvPr/>
        </p:nvSpPr>
        <p:spPr>
          <a:xfrm>
            <a:off x="386500" y="1696824"/>
            <a:ext cx="5709500" cy="4362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On the top right side of the screen is a button called ‘</a:t>
            </a:r>
            <a:r>
              <a:rPr lang="en-GB" b="1" dirty="0" err="1">
                <a:solidFill>
                  <a:srgbClr val="FF0000"/>
                </a:solidFill>
              </a:rPr>
              <a:t>Presets</a:t>
            </a:r>
            <a:r>
              <a:rPr lang="en-GB" dirty="0"/>
              <a:t>’, click this and a list of conversion </a:t>
            </a:r>
            <a:r>
              <a:rPr lang="en-GB" dirty="0" err="1"/>
              <a:t>presets</a:t>
            </a:r>
            <a:r>
              <a:rPr lang="en-GB" dirty="0"/>
              <a:t> will be displayed.</a:t>
            </a:r>
          </a:p>
          <a:p>
            <a:r>
              <a:rPr lang="en-GB" dirty="0"/>
              <a:t>We need to add a pre-defined conversion </a:t>
            </a:r>
            <a:r>
              <a:rPr lang="en-GB" dirty="0" err="1"/>
              <a:t>preset</a:t>
            </a:r>
            <a:r>
              <a:rPr lang="en-GB" dirty="0"/>
              <a:t> for ViCTA…</a:t>
            </a:r>
          </a:p>
          <a:p>
            <a:r>
              <a:rPr lang="en-GB" dirty="0"/>
              <a:t>On the right side of the screen click on the </a:t>
            </a:r>
            <a:r>
              <a:rPr lang="en-GB" b="1" dirty="0">
                <a:solidFill>
                  <a:srgbClr val="00B0F0"/>
                </a:solidFill>
              </a:rPr>
              <a:t>Options</a:t>
            </a:r>
            <a:r>
              <a:rPr lang="en-GB" dirty="0"/>
              <a:t> button.</a:t>
            </a:r>
          </a:p>
          <a:p>
            <a:r>
              <a:rPr lang="en-GB" dirty="0"/>
              <a:t>On the pop-up menu click on ‘</a:t>
            </a:r>
            <a:r>
              <a:rPr lang="en-GB" b="1" dirty="0">
                <a:solidFill>
                  <a:srgbClr val="00B050"/>
                </a:solidFill>
              </a:rPr>
              <a:t>import from file</a:t>
            </a:r>
            <a:r>
              <a:rPr lang="en-GB" dirty="0"/>
              <a:t>’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AB3DA2-696F-4540-B6F9-104CDDFF6B28}"/>
              </a:ext>
            </a:extLst>
          </p:cNvPr>
          <p:cNvSpPr/>
          <p:nvPr/>
        </p:nvSpPr>
        <p:spPr>
          <a:xfrm>
            <a:off x="8127482" y="849985"/>
            <a:ext cx="1327603" cy="488621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276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356AD-935F-457B-81C2-B0CFEB7C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Handbrake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EAE43-8C1C-4043-B794-8E4BFD2C6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99408" cy="4351338"/>
          </a:xfrm>
        </p:spPr>
        <p:txBody>
          <a:bodyPr/>
          <a:lstStyle/>
          <a:p>
            <a:r>
              <a:rPr lang="en-GB" dirty="0"/>
              <a:t>Select one of the </a:t>
            </a:r>
            <a:r>
              <a:rPr lang="en-GB" b="1" dirty="0">
                <a:solidFill>
                  <a:srgbClr val="FF0000"/>
                </a:solidFill>
              </a:rPr>
              <a:t>json</a:t>
            </a:r>
            <a:r>
              <a:rPr lang="en-GB" dirty="0"/>
              <a:t> settings files in the handbrake folder</a:t>
            </a:r>
          </a:p>
          <a:p>
            <a:r>
              <a:rPr lang="en-GB" dirty="0"/>
              <a:t>Click </a:t>
            </a:r>
            <a:r>
              <a:rPr lang="en-GB" b="1" dirty="0">
                <a:solidFill>
                  <a:srgbClr val="FFC000"/>
                </a:solidFill>
              </a:rPr>
              <a:t>open</a:t>
            </a:r>
            <a:r>
              <a:rPr lang="en-GB" dirty="0"/>
              <a:t> to install the settings</a:t>
            </a:r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2736E7-937F-428C-8642-5528150EEB2D}"/>
              </a:ext>
            </a:extLst>
          </p:cNvPr>
          <p:cNvGrpSpPr/>
          <p:nvPr/>
        </p:nvGrpSpPr>
        <p:grpSpPr>
          <a:xfrm>
            <a:off x="5285324" y="1753385"/>
            <a:ext cx="6507114" cy="4069814"/>
            <a:chOff x="5483287" y="1875935"/>
            <a:chExt cx="6507114" cy="40698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9290B3-34CA-4B8D-B356-9D234BDEB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3287" y="1875935"/>
              <a:ext cx="6507114" cy="4069814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F6CE0E1-8639-40FE-BCB1-E53C06265182}"/>
                </a:ext>
              </a:extLst>
            </p:cNvPr>
            <p:cNvSpPr/>
            <p:nvPr/>
          </p:nvSpPr>
          <p:spPr>
            <a:xfrm>
              <a:off x="6975833" y="2931736"/>
              <a:ext cx="2253005" cy="320511"/>
            </a:xfrm>
            <a:prstGeom prst="round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668FDD9-EDE1-4AA2-A74A-F39B372F1A7A}"/>
                </a:ext>
              </a:extLst>
            </p:cNvPr>
            <p:cNvSpPr/>
            <p:nvPr/>
          </p:nvSpPr>
          <p:spPr>
            <a:xfrm>
              <a:off x="10064473" y="5563176"/>
              <a:ext cx="1060727" cy="362253"/>
            </a:xfrm>
            <a:prstGeom prst="roundRect">
              <a:avLst/>
            </a:prstGeom>
            <a:noFill/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4552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A0A7-9DDF-4170-B18F-DEFF8EE8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Configuring Handbrake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58EC4-6935-4480-8401-B57B01C87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020" cy="4351338"/>
          </a:xfrm>
        </p:spPr>
        <p:txBody>
          <a:bodyPr/>
          <a:lstStyle/>
          <a:p>
            <a:r>
              <a:rPr lang="en-GB" dirty="0"/>
              <a:t>The imported </a:t>
            </a:r>
            <a:r>
              <a:rPr lang="en-GB" dirty="0" err="1"/>
              <a:t>preset</a:t>
            </a:r>
            <a:r>
              <a:rPr lang="en-GB" dirty="0"/>
              <a:t> settings can be found in a new </a:t>
            </a:r>
            <a:r>
              <a:rPr lang="en-GB" dirty="0" err="1"/>
              <a:t>preset</a:t>
            </a:r>
            <a:r>
              <a:rPr lang="en-GB" dirty="0"/>
              <a:t> option called ‘</a:t>
            </a:r>
            <a:r>
              <a:rPr lang="en-GB" b="1" dirty="0">
                <a:solidFill>
                  <a:srgbClr val="00B050"/>
                </a:solidFill>
              </a:rPr>
              <a:t>Custom </a:t>
            </a:r>
            <a:r>
              <a:rPr lang="en-GB" b="1" dirty="0" err="1">
                <a:solidFill>
                  <a:srgbClr val="00B050"/>
                </a:solidFill>
              </a:rPr>
              <a:t>Presets</a:t>
            </a:r>
            <a:r>
              <a:rPr lang="en-GB" dirty="0"/>
              <a:t>’. Click this to show the imported </a:t>
            </a:r>
            <a:r>
              <a:rPr lang="en-GB" dirty="0" err="1"/>
              <a:t>preset</a:t>
            </a:r>
            <a:r>
              <a:rPr lang="en-GB" dirty="0"/>
              <a:t>.</a:t>
            </a:r>
          </a:p>
          <a:p>
            <a:r>
              <a:rPr lang="en-GB" dirty="0"/>
              <a:t>Right click on the </a:t>
            </a:r>
            <a:r>
              <a:rPr lang="en-GB" dirty="0" err="1"/>
              <a:t>preset</a:t>
            </a:r>
            <a:r>
              <a:rPr lang="en-GB" dirty="0"/>
              <a:t> you imported and left click ‘</a:t>
            </a:r>
            <a:r>
              <a:rPr lang="en-GB" b="1" dirty="0">
                <a:solidFill>
                  <a:srgbClr val="FFC000"/>
                </a:solidFill>
              </a:rPr>
              <a:t>Set Default</a:t>
            </a:r>
            <a:r>
              <a:rPr lang="en-GB" dirty="0"/>
              <a:t>’ to make these conversion settings show as the default conversion options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41D71-4028-4442-B5DA-0B16FF0A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511" y="247827"/>
            <a:ext cx="4205177" cy="651590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91B2E2-EF90-4148-8F3D-1F37FFC10D3B}"/>
              </a:ext>
            </a:extLst>
          </p:cNvPr>
          <p:cNvSpPr/>
          <p:nvPr/>
        </p:nvSpPr>
        <p:spPr>
          <a:xfrm>
            <a:off x="7995506" y="2884603"/>
            <a:ext cx="1289896" cy="311108"/>
          </a:xfrm>
          <a:prstGeom prst="round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14F141-28B7-4F21-A958-213C2B2B09BC}"/>
              </a:ext>
            </a:extLst>
          </p:cNvPr>
          <p:cNvSpPr/>
          <p:nvPr/>
        </p:nvSpPr>
        <p:spPr>
          <a:xfrm>
            <a:off x="8210746" y="3195711"/>
            <a:ext cx="3007151" cy="482341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36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8C6CF-823F-4BF1-9656-5801402A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Handbrake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9490-306D-4F20-A097-36FBD1453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646514"/>
            <a:ext cx="4864231" cy="4351338"/>
          </a:xfrm>
        </p:spPr>
        <p:txBody>
          <a:bodyPr/>
          <a:lstStyle/>
          <a:p>
            <a:r>
              <a:rPr lang="en-GB" dirty="0"/>
              <a:t>Click the ‘</a:t>
            </a:r>
            <a:r>
              <a:rPr lang="en-GB" b="1" dirty="0">
                <a:solidFill>
                  <a:srgbClr val="00B050"/>
                </a:solidFill>
              </a:rPr>
              <a:t>open source</a:t>
            </a:r>
            <a:r>
              <a:rPr lang="en-GB" dirty="0"/>
              <a:t>’ button at the top left of the screen</a:t>
            </a:r>
          </a:p>
          <a:p>
            <a:r>
              <a:rPr lang="en-GB" dirty="0"/>
              <a:t>This will bring up the source selection screen</a:t>
            </a:r>
          </a:p>
          <a:p>
            <a:r>
              <a:rPr lang="en-GB" dirty="0"/>
              <a:t>To select a single file to convert click on the ‘</a:t>
            </a:r>
            <a:r>
              <a:rPr lang="en-GB" b="1" dirty="0">
                <a:solidFill>
                  <a:srgbClr val="00B0F0"/>
                </a:solidFill>
              </a:rPr>
              <a:t>File</a:t>
            </a:r>
            <a:r>
              <a:rPr lang="en-GB" dirty="0"/>
              <a:t>’ option.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073AFDD-DCEE-4C24-ACBF-FCD342485541}"/>
              </a:ext>
            </a:extLst>
          </p:cNvPr>
          <p:cNvGrpSpPr/>
          <p:nvPr/>
        </p:nvGrpSpPr>
        <p:grpSpPr>
          <a:xfrm>
            <a:off x="5280589" y="1499584"/>
            <a:ext cx="6417539" cy="1879200"/>
            <a:chOff x="5280589" y="2489400"/>
            <a:chExt cx="6417539" cy="1879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01325E-D50C-4D1B-A401-61B26C630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7784" y="2489400"/>
              <a:ext cx="6170344" cy="1879200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F8BE5C1-139E-491F-A869-509C6D7BA42E}"/>
                </a:ext>
              </a:extLst>
            </p:cNvPr>
            <p:cNvSpPr/>
            <p:nvPr/>
          </p:nvSpPr>
          <p:spPr>
            <a:xfrm>
              <a:off x="5280589" y="2714919"/>
              <a:ext cx="2025184" cy="575035"/>
            </a:xfrm>
            <a:prstGeom prst="roundRect">
              <a:avLst/>
            </a:prstGeom>
            <a:noFill/>
            <a:ln w="635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A25743-BA6E-48D8-BA4F-BD4507BFA188}"/>
              </a:ext>
            </a:extLst>
          </p:cNvPr>
          <p:cNvGrpSpPr/>
          <p:nvPr/>
        </p:nvGrpSpPr>
        <p:grpSpPr>
          <a:xfrm>
            <a:off x="5583313" y="3277023"/>
            <a:ext cx="3400932" cy="3207400"/>
            <a:chOff x="5498473" y="3277023"/>
            <a:chExt cx="3400932" cy="32074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D55D86-BCF2-48C3-9859-B7E9BC80B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8473" y="3277023"/>
              <a:ext cx="3400932" cy="3207400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C4CDB78-B9D6-4FFA-A5B6-C7E4F5F9CDCF}"/>
                </a:ext>
              </a:extLst>
            </p:cNvPr>
            <p:cNvSpPr/>
            <p:nvPr/>
          </p:nvSpPr>
          <p:spPr>
            <a:xfrm>
              <a:off x="5627805" y="5646681"/>
              <a:ext cx="3007151" cy="650423"/>
            </a:xfrm>
            <a:prstGeom prst="roundRect">
              <a:avLst/>
            </a:prstGeom>
            <a:noFill/>
            <a:ln w="635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2811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F94E88-7307-41A7-B755-15C895E6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988" y="735286"/>
            <a:ext cx="6872034" cy="5953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74F4B-95C6-41C0-96EF-3992E8FE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70" y="-49656"/>
            <a:ext cx="4734486" cy="1325563"/>
          </a:xfrm>
        </p:spPr>
        <p:txBody>
          <a:bodyPr/>
          <a:lstStyle/>
          <a:p>
            <a:r>
              <a:rPr lang="en-GB" dirty="0"/>
              <a:t>Running Handbrake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DEA9E-25FB-4A7E-8952-834241E2D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39" y="1008667"/>
            <a:ext cx="4938194" cy="5099901"/>
          </a:xfrm>
        </p:spPr>
        <p:txBody>
          <a:bodyPr>
            <a:noAutofit/>
          </a:bodyPr>
          <a:lstStyle/>
          <a:p>
            <a:r>
              <a:rPr lang="en-GB" sz="2400" dirty="0"/>
              <a:t>Choose which folder to save the converted to by clicking the ‘</a:t>
            </a:r>
            <a:r>
              <a:rPr lang="en-GB" sz="2400" b="1" dirty="0">
                <a:solidFill>
                  <a:srgbClr val="FFC000"/>
                </a:solidFill>
              </a:rPr>
              <a:t>Browse</a:t>
            </a:r>
            <a:r>
              <a:rPr lang="en-GB" sz="2400" dirty="0"/>
              <a:t>’ button on the bottom of the screen.</a:t>
            </a:r>
          </a:p>
          <a:p>
            <a:r>
              <a:rPr lang="en-GB" sz="2400" dirty="0"/>
              <a:t>If the folder is the same as the source video folder a number will be added after the filename for the converted video.</a:t>
            </a:r>
          </a:p>
          <a:p>
            <a:r>
              <a:rPr lang="en-GB" sz="2400" dirty="0"/>
              <a:t>Make sure the </a:t>
            </a:r>
            <a:r>
              <a:rPr lang="en-GB" sz="2400" b="1" dirty="0" err="1">
                <a:solidFill>
                  <a:srgbClr val="00B0F0"/>
                </a:solidFill>
              </a:rPr>
              <a:t>preset</a:t>
            </a:r>
            <a:r>
              <a:rPr lang="en-GB" sz="2400" dirty="0"/>
              <a:t> is the same as the one you imported earlier (it is in ‘custom </a:t>
            </a:r>
            <a:r>
              <a:rPr lang="en-GB" sz="2400" dirty="0" err="1"/>
              <a:t>presets’</a:t>
            </a:r>
            <a:r>
              <a:rPr lang="en-GB" sz="2400" dirty="0"/>
              <a:t> on right of screen).</a:t>
            </a:r>
          </a:p>
          <a:p>
            <a:r>
              <a:rPr lang="en-GB" sz="2400" dirty="0"/>
              <a:t>Click the ‘</a:t>
            </a:r>
            <a:r>
              <a:rPr lang="en-GB" sz="2400" b="1" dirty="0">
                <a:solidFill>
                  <a:srgbClr val="00B050"/>
                </a:solidFill>
              </a:rPr>
              <a:t>Start Encode</a:t>
            </a:r>
            <a:r>
              <a:rPr lang="en-GB" sz="2400" dirty="0"/>
              <a:t>’ button to start the conversion process.</a:t>
            </a:r>
          </a:p>
          <a:p>
            <a:r>
              <a:rPr lang="en-GB" sz="2400" dirty="0"/>
              <a:t>The process will automatically halt when finished.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0081BF-AE38-4C5F-B439-348A8469907C}"/>
              </a:ext>
            </a:extLst>
          </p:cNvPr>
          <p:cNvSpPr/>
          <p:nvPr/>
        </p:nvSpPr>
        <p:spPr>
          <a:xfrm>
            <a:off x="10991654" y="6174580"/>
            <a:ext cx="914400" cy="482341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DAD390-EEF7-4037-A107-21E06D669656}"/>
              </a:ext>
            </a:extLst>
          </p:cNvPr>
          <p:cNvSpPr/>
          <p:nvPr/>
        </p:nvSpPr>
        <p:spPr>
          <a:xfrm>
            <a:off x="7307347" y="1159881"/>
            <a:ext cx="1299328" cy="482341"/>
          </a:xfrm>
          <a:prstGeom prst="round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6EC6F0-3E0E-4A27-8B07-54715488F9D8}"/>
              </a:ext>
            </a:extLst>
          </p:cNvPr>
          <p:cNvSpPr/>
          <p:nvPr/>
        </p:nvSpPr>
        <p:spPr>
          <a:xfrm>
            <a:off x="5027633" y="2217255"/>
            <a:ext cx="2721199" cy="482341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5887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955D-526D-4FDC-98ED-5807EA87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38B19-32A2-467B-8206-896ACE693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3" y="1395167"/>
            <a:ext cx="5151044" cy="4781796"/>
          </a:xfrm>
        </p:spPr>
        <p:txBody>
          <a:bodyPr/>
          <a:lstStyle/>
          <a:p>
            <a:r>
              <a:rPr lang="en-GB" dirty="0"/>
              <a:t>Click ‘</a:t>
            </a:r>
            <a:r>
              <a:rPr lang="en-GB" b="1" dirty="0">
                <a:solidFill>
                  <a:srgbClr val="00B050"/>
                </a:solidFill>
              </a:rPr>
              <a:t>Open Source</a:t>
            </a:r>
            <a:r>
              <a:rPr lang="en-GB" dirty="0"/>
              <a:t>’</a:t>
            </a:r>
          </a:p>
          <a:p>
            <a:r>
              <a:rPr lang="en-GB" dirty="0"/>
              <a:t>Select</a:t>
            </a:r>
            <a:r>
              <a:rPr lang="en-GB" b="1" dirty="0"/>
              <a:t> ‘</a:t>
            </a:r>
            <a:r>
              <a:rPr lang="en-GB" b="1" dirty="0">
                <a:solidFill>
                  <a:srgbClr val="FF0000"/>
                </a:solidFill>
              </a:rPr>
              <a:t>Folder (batch scan)</a:t>
            </a:r>
            <a:r>
              <a:rPr lang="en-GB" dirty="0"/>
              <a:t>’</a:t>
            </a:r>
          </a:p>
          <a:p>
            <a:r>
              <a:rPr lang="en-GB" dirty="0"/>
              <a:t>Browse to the folder of source files, click it once and then click the ‘select folder’ button.</a:t>
            </a:r>
          </a:p>
          <a:p>
            <a:r>
              <a:rPr lang="en-GB" dirty="0"/>
              <a:t>Click the </a:t>
            </a:r>
            <a:r>
              <a:rPr lang="en-GB" b="1" dirty="0">
                <a:solidFill>
                  <a:srgbClr val="FFC000"/>
                </a:solidFill>
              </a:rPr>
              <a:t>small arrow </a:t>
            </a:r>
            <a:r>
              <a:rPr lang="en-GB" dirty="0"/>
              <a:t>on the Add to Queue button and click ‘</a:t>
            </a:r>
            <a:r>
              <a:rPr lang="en-GB" b="1" dirty="0">
                <a:solidFill>
                  <a:srgbClr val="00B0F0"/>
                </a:solidFill>
              </a:rPr>
              <a:t>Add All</a:t>
            </a:r>
            <a:r>
              <a:rPr lang="en-GB" dirty="0"/>
              <a:t>’ to add the files to the queue</a:t>
            </a:r>
          </a:p>
          <a:p>
            <a:r>
              <a:rPr lang="en-GB" dirty="0"/>
              <a:t>The files will now be in the job queue</a:t>
            </a:r>
          </a:p>
          <a:p>
            <a:r>
              <a:rPr lang="en-GB" dirty="0"/>
              <a:t>Click the Green Start Queue Button</a:t>
            </a:r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2B55DA1-2A72-47DF-95AA-1F5DA2BDE292}"/>
              </a:ext>
            </a:extLst>
          </p:cNvPr>
          <p:cNvGrpSpPr/>
          <p:nvPr/>
        </p:nvGrpSpPr>
        <p:grpSpPr>
          <a:xfrm>
            <a:off x="5299442" y="226963"/>
            <a:ext cx="6417539" cy="1879200"/>
            <a:chOff x="5280589" y="2489400"/>
            <a:chExt cx="6417539" cy="18792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728493-D175-4269-BDC0-0E5C01F6B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7784" y="2489400"/>
              <a:ext cx="6170344" cy="1879200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3FB43C2-F8A6-49E7-B846-E4F388B20331}"/>
                </a:ext>
              </a:extLst>
            </p:cNvPr>
            <p:cNvSpPr/>
            <p:nvPr/>
          </p:nvSpPr>
          <p:spPr>
            <a:xfrm>
              <a:off x="5280589" y="2714919"/>
              <a:ext cx="2025184" cy="575035"/>
            </a:xfrm>
            <a:prstGeom prst="roundRect">
              <a:avLst/>
            </a:prstGeom>
            <a:noFill/>
            <a:ln w="635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07F3E94-0B87-4924-A7E5-57CBAEE5E390}"/>
              </a:ext>
            </a:extLst>
          </p:cNvPr>
          <p:cNvGrpSpPr/>
          <p:nvPr/>
        </p:nvGrpSpPr>
        <p:grpSpPr>
          <a:xfrm>
            <a:off x="5394778" y="2013831"/>
            <a:ext cx="3400932" cy="3207400"/>
            <a:chOff x="5498473" y="3277023"/>
            <a:chExt cx="3400932" cy="32074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FC263A-0C3D-4E94-945A-36781F84B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8473" y="3277023"/>
              <a:ext cx="3400932" cy="3207400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FE663D0-BEE9-4239-99E7-860AA2DFC432}"/>
                </a:ext>
              </a:extLst>
            </p:cNvPr>
            <p:cNvSpPr/>
            <p:nvPr/>
          </p:nvSpPr>
          <p:spPr>
            <a:xfrm>
              <a:off x="5627805" y="4977377"/>
              <a:ext cx="3007151" cy="650423"/>
            </a:xfrm>
            <a:prstGeom prst="round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478FB7E-36DA-4A09-A2DD-4E993FB40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921" y="4463402"/>
            <a:ext cx="6094634" cy="234232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E75856-9C79-4A4E-A559-C30CF7B9E1BF}"/>
              </a:ext>
            </a:extLst>
          </p:cNvPr>
          <p:cNvSpPr/>
          <p:nvPr/>
        </p:nvSpPr>
        <p:spPr>
          <a:xfrm>
            <a:off x="6834433" y="5627802"/>
            <a:ext cx="2121031" cy="529470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42ED04-B0EC-440A-8450-CC8F905E502D}"/>
              </a:ext>
            </a:extLst>
          </p:cNvPr>
          <p:cNvSpPr/>
          <p:nvPr/>
        </p:nvSpPr>
        <p:spPr>
          <a:xfrm>
            <a:off x="8163611" y="4996207"/>
            <a:ext cx="490195" cy="499621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667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E0DF-1498-4BB1-A48E-ACAC02ED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B75D0-E107-4E96-8812-22B8931DA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Jeff Jones</a:t>
            </a:r>
          </a:p>
        </p:txBody>
      </p:sp>
    </p:spTree>
    <p:extLst>
      <p:ext uri="{BB962C8B-B14F-4D97-AF65-F5344CB8AC3E}">
        <p14:creationId xmlns:p14="http://schemas.microsoft.com/office/powerpoint/2010/main" val="387109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684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Guide to Using Handbrake 1.1.2 Video Conversion Software</vt:lpstr>
      <vt:lpstr>Handbrake Software </vt:lpstr>
      <vt:lpstr>Installing Handbrake</vt:lpstr>
      <vt:lpstr>Configuring Handbrake - Important</vt:lpstr>
      <vt:lpstr>Configuring Handbrake - Important</vt:lpstr>
      <vt:lpstr>Configuring Handbrake - Important</vt:lpstr>
      <vt:lpstr>Configuring Handbrake</vt:lpstr>
      <vt:lpstr>Configuring Handbrake</vt:lpstr>
      <vt:lpstr>Configuring Handbrake</vt:lpstr>
      <vt:lpstr>Running Handbrake</vt:lpstr>
      <vt:lpstr>Running Handbrake</vt:lpstr>
      <vt:lpstr>Batch Conversion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to Using Handbrake Video Conversion Software</dc:title>
  <dc:creator>Jeff Jones</dc:creator>
  <cp:lastModifiedBy>Jeff Jones</cp:lastModifiedBy>
  <cp:revision>18</cp:revision>
  <dcterms:created xsi:type="dcterms:W3CDTF">2019-09-18T13:11:36Z</dcterms:created>
  <dcterms:modified xsi:type="dcterms:W3CDTF">2025-11-14T10:16:56Z</dcterms:modified>
</cp:coreProperties>
</file>